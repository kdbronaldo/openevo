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6723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使用说明（给学生）：这是 A 类（核心）项目每周 deep dive 的汇报模板，目标是让会议时间全部花在判断和讨论上，而不是听流水账。规则：(1) 每周复制上一周的 deck 在原基础上迭代，不从零开始——story 的演进本身就是论文骨架。(2) 第 4 页「决策点」写不清楚，这周可不占用 deep dive 时间，一句异步更新即可。(3) 每页底部「复利点」说明这页为何存在。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65D44-ABB3-E7E9-7FE2-479D62585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4FAF59-650E-93EC-61D8-5DD16A498F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308326-9554-8D89-A86F-92987A7C3C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623E5-3948-507E-EF9B-BF6829474E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79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43432-E5EF-1AC3-0878-F9C53035E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EE1E6A-1C36-9061-FB2D-F85B2E6BC1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B01547-13DD-21CA-AD5F-863657214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71F64-6E4B-829F-5817-69A838C1D7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6486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D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3931920"/>
            <a:ext cx="3291840" cy="3291840"/>
          </a:xfrm>
          <a:prstGeom prst="ellipse">
            <a:avLst/>
          </a:prstGeom>
          <a:solidFill>
            <a:srgbClr val="0043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064240" y="5120640"/>
            <a:ext cx="2194560" cy="2194560"/>
          </a:xfrm>
          <a:prstGeom prst="ellipse">
            <a:avLst/>
          </a:prstGeom>
          <a:solidFill>
            <a:srgbClr val="4C8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759952" y="3657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Arial" pitchFamily="34" charset="-122"/>
                <a:cs typeface="Arial" pitchFamily="34" charset="-120"/>
              </a:rPr>
              <a:t>CompLife Lab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9601200" cy="86868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/>
          <a:lstStyle/>
          <a:p>
            <a:r>
              <a:rPr sz="3800" b="1">
                <a:solidFill>
                  <a:srgbClr val="1F2937"/>
                </a:solidFill>
                <a:latin typeface="Microsoft YaHei"/>
              </a:rPr>
              <a:t>每周汇报</a:t>
            </a:r>
          </a:p>
        </p:txBody>
      </p:sp>
      <p:sp>
        <p:nvSpPr>
          <p:cNvPr id="8" name="Text 6"/>
          <p:cNvSpPr/>
          <p:nvPr/>
        </p:nvSpPr>
        <p:spPr>
          <a:xfrm>
            <a:off x="685800" y="3749040"/>
            <a:ext cx="9144000" cy="45720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/>
          <a:lstStyle/>
          <a:p>
            <a:r>
              <a:rPr sz="1800" b="0">
                <a:solidFill>
                  <a:srgbClr val="4B5563"/>
                </a:solidFill>
                <a:latin typeface="Microsoft YaHei"/>
              </a:rPr>
              <a:t>不是报告做了什么，而是展示：现在能说什么、卡在哪个判断、下周交付什么。</a:t>
            </a:r>
          </a:p>
        </p:txBody>
      </p:sp>
      <p:sp>
        <p:nvSpPr>
          <p:cNvPr id="9" name="Shape 7"/>
          <p:cNvSpPr/>
          <p:nvPr/>
        </p:nvSpPr>
        <p:spPr>
          <a:xfrm>
            <a:off x="685800" y="4892040"/>
            <a:ext cx="1600200" cy="457200"/>
          </a:xfrm>
          <a:prstGeom prst="roundRect">
            <a:avLst>
              <a:gd name="adj" fmla="val 20000"/>
            </a:avLst>
          </a:prstGeom>
          <a:solidFill>
            <a:srgbClr val="143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/>
          <a:lstStyle/>
          <a:p>
            <a:r>
              <a:rPr sz="1600" b="1">
                <a:solidFill>
                  <a:srgbClr val="1F2937"/>
                </a:solidFill>
                <a:latin typeface="Microsoft YaHei"/>
              </a:rPr>
              <a:t>项目：Agent System Evolution</a:t>
            </a:r>
          </a:p>
        </p:txBody>
      </p:sp>
      <p:sp>
        <p:nvSpPr>
          <p:cNvPr id="11" name="Shape 9"/>
          <p:cNvSpPr/>
          <p:nvPr/>
        </p:nvSpPr>
        <p:spPr>
          <a:xfrm>
            <a:off x="2542032" y="4892040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143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42032" y="4892040"/>
            <a:ext cx="1691640" cy="45720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/>
          <a:lstStyle/>
          <a:p>
            <a:r>
              <a:rPr sz="1600" b="1">
                <a:solidFill>
                  <a:srgbClr val="1F2937"/>
                </a:solidFill>
                <a:latin typeface="Microsoft YaHei"/>
              </a:rPr>
              <a:t>负责人：ziyi / Codex 协作</a:t>
            </a:r>
          </a:p>
        </p:txBody>
      </p:sp>
      <p:sp>
        <p:nvSpPr>
          <p:cNvPr id="13" name="Shape 11"/>
          <p:cNvSpPr/>
          <p:nvPr/>
        </p:nvSpPr>
        <p:spPr>
          <a:xfrm>
            <a:off x="4489704" y="489204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143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89704" y="4892040"/>
            <a:ext cx="1417320" cy="45720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/>
          <a:lstStyle/>
          <a:p>
            <a:r>
              <a:rPr sz="1500" b="1">
                <a:solidFill>
                  <a:srgbClr val="1F2937"/>
                </a:solidFill>
                <a:latin typeface="Microsoft YaHei"/>
              </a:rPr>
              <a:t>Week：2026-06-15 ~ 06-21</a:t>
            </a:r>
          </a:p>
        </p:txBody>
      </p:sp>
      <p:sp>
        <p:nvSpPr>
          <p:cNvPr id="15" name="Shape 13"/>
          <p:cNvSpPr/>
          <p:nvPr/>
        </p:nvSpPr>
        <p:spPr>
          <a:xfrm>
            <a:off x="6163056" y="4892040"/>
            <a:ext cx="1600200" cy="457200"/>
          </a:xfrm>
          <a:prstGeom prst="roundRect">
            <a:avLst>
              <a:gd name="adj" fmla="val 20000"/>
            </a:avLst>
          </a:prstGeom>
          <a:solidFill>
            <a:srgbClr val="143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63056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/>
          <a:lstStyle/>
          <a:p>
            <a:r>
              <a:rPr sz="1600" b="1">
                <a:solidFill>
                  <a:srgbClr val="1F2937"/>
                </a:solidFill>
                <a:latin typeface="Microsoft YaHei"/>
              </a:rPr>
              <a:t>日期：2026-06-21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743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43B9"/>
                </a:solidFill>
                <a:latin typeface="Microsoft YaHei" pitchFamily="34" charset="0"/>
                <a:ea typeface="Arial" pitchFamily="34" charset="-122"/>
                <a:cs typeface="Arial" pitchFamily="34" charset="-120"/>
              </a:rPr>
              <a:t>CompLife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433"/>
                </a:solidFill>
                <a:latin typeface="Microsoft YaHei" pitchFamily="34" charset="0"/>
                <a:ea typeface="Alibaba PuHuiTi Medium" pitchFamily="34" charset="-122"/>
                <a:cs typeface="Alibaba PuHuiTi Medium" pitchFamily="34" charset="-120"/>
              </a:rPr>
              <a:t>本周一句话  </a:t>
            </a:r>
            <a:r>
              <a:rPr lang="en-US" sz="1150" dirty="0">
                <a:solidFill>
                  <a:srgbClr val="6B7685"/>
                </a:solidFill>
                <a:latin typeface="Microsoft YaHei" pitchFamily="34" charset="0"/>
                <a:ea typeface="Alibaba PuHuiTi Medium" pitchFamily="34" charset="-122"/>
                <a:cs typeface="Alibaba PuHuiTi Medium" pitchFamily="34" charset="-120"/>
              </a:rPr>
              <a:t>Bottom Line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777240"/>
            <a:ext cx="640080" cy="640080"/>
          </a:xfrm>
          <a:prstGeom prst="ellipse">
            <a:avLst/>
          </a:prstGeom>
          <a:solidFill>
            <a:srgbClr val="0043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54480" y="749808"/>
            <a:ext cx="9948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E2433"/>
                </a:solidFill>
                <a:latin typeface="Microsoft YaHei" pitchFamily="34" charset="0"/>
                <a:ea typeface="Alibaba PuHuiTi Medium" pitchFamily="34" charset="-122"/>
                <a:cs typeface="Alibaba PuHuiTi Medium" pitchFamily="34" charset="-120"/>
              </a:rPr>
              <a:t>本周一句话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126187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685"/>
                </a:solidFill>
                <a:latin typeface="Microsoft YaHei" pitchFamily="34" charset="0"/>
                <a:ea typeface="Alibaba PuHuiTi Medium" pitchFamily="34" charset="-122"/>
                <a:cs typeface="Alibaba PuHuiTi Medium" pitchFamily="34" charset="-120"/>
              </a:rPr>
              <a:t>先给结论，再给细节。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10817352" cy="1691640"/>
          </a:xfrm>
          <a:prstGeom prst="roundRect">
            <a:avLst>
              <a:gd name="adj" fmla="val 5405"/>
            </a:avLst>
          </a:prstGeom>
          <a:solidFill>
            <a:srgbClr val="EAF0FF"/>
          </a:solidFill>
          <a:ln/>
          <a:effectLst>
            <a:outerShdw blurRad="114300" dist="38100" dir="5400000" algn="bl" rotWithShape="0">
              <a:srgbClr val="9AA8BE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2011680"/>
            <a:ext cx="10085832" cy="132588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/>
          <a:lstStyle/>
          <a:p>
            <a:r>
              <a:rPr sz="2200" b="1">
                <a:solidFill>
                  <a:srgbClr val="1F2937"/>
                </a:solidFill>
                <a:latin typeface="Microsoft YaHei"/>
              </a:rPr>
              <a:t>我们现在已经把 agent system 的 LLM reflector 演化流程做成可复用算法，并在生物组件抽取与 Terminal Bench 上完成初步闭环；最大风险从“能不能进化”转为“评估闭环是否可比、是否给了 agent 有效反馈”。</a:t>
            </a:r>
          </a:p>
        </p:txBody>
      </p:sp>
      <p:sp>
        <p:nvSpPr>
          <p:cNvPr id="10" name="Shape 8"/>
          <p:cNvSpPr/>
          <p:nvPr/>
        </p:nvSpPr>
        <p:spPr>
          <a:xfrm>
            <a:off x="685800" y="3794760"/>
            <a:ext cx="3361944" cy="1097280"/>
          </a:xfrm>
          <a:prstGeom prst="roundRect">
            <a:avLst>
              <a:gd name="adj" fmla="val 7500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  <a:effectLst>
            <a:outerShdw blurRad="114300" dist="38100" dir="5400000" algn="bl" rotWithShape="0">
              <a:srgbClr val="9AA8BE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959352"/>
            <a:ext cx="2904744" cy="77724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t"/>
          <a:lstStyle/>
          <a:p>
            <a:r>
              <a:rPr sz="1600" b="1">
                <a:solidFill>
                  <a:srgbClr val="D97706"/>
                </a:solidFill>
                <a:latin typeface="Microsoft YaHei"/>
              </a:rPr>
              <a:t>项目状态</a:t>
            </a:r>
          </a:p>
          <a:p/>
          <a:p>
            <a:r>
              <a:rPr sz="1600" b="1">
                <a:solidFill>
                  <a:srgbClr val="D97706"/>
                </a:solidFill>
                <a:latin typeface="Microsoft YaHei"/>
              </a:rPr>
              <a:t>[ 正常推进，卡在 TB 可比 baseline ]</a:t>
            </a:r>
          </a:p>
        </p:txBody>
      </p:sp>
      <p:sp>
        <p:nvSpPr>
          <p:cNvPr id="12" name="Shape 10"/>
          <p:cNvSpPr/>
          <p:nvPr/>
        </p:nvSpPr>
        <p:spPr>
          <a:xfrm>
            <a:off x="4413504" y="3794760"/>
            <a:ext cx="3361944" cy="1097280"/>
          </a:xfrm>
          <a:prstGeom prst="roundRect">
            <a:avLst>
              <a:gd name="adj" fmla="val 7500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  <a:effectLst>
            <a:outerShdw blurRad="114300" dist="38100" dir="5400000" algn="bl" rotWithShape="0">
              <a:srgbClr val="9AA8BE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42104" y="3959352"/>
            <a:ext cx="2904744" cy="77724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t"/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本周净进展</a:t>
            </a:r>
          </a:p>
          <a:p/>
          <a:p>
            <a:r>
              <a:rPr sz="1500" b="0">
                <a:solidFill>
                  <a:srgbClr val="1F2937"/>
                </a:solidFill>
                <a:latin typeface="Microsoft YaHei"/>
              </a:rPr>
              <a:t>方法、评估、安全、任务桥接都跑通；TB 暴露 bridge 不是官方 Codex baseline。</a:t>
            </a:r>
          </a:p>
        </p:txBody>
      </p:sp>
      <p:sp>
        <p:nvSpPr>
          <p:cNvPr id="14" name="Shape 12"/>
          <p:cNvSpPr/>
          <p:nvPr/>
        </p:nvSpPr>
        <p:spPr>
          <a:xfrm>
            <a:off x="8141208" y="3794760"/>
            <a:ext cx="3361944" cy="1097280"/>
          </a:xfrm>
          <a:prstGeom prst="roundRect">
            <a:avLst>
              <a:gd name="adj" fmla="val 7500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  <a:effectLst>
            <a:outerShdw blurRad="114300" dist="38100" dir="5400000" algn="bl" rotWithShape="0">
              <a:srgbClr val="9AA8BE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69808" y="3959352"/>
            <a:ext cx="2904744" cy="77724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t"/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距下个节点</a:t>
            </a:r>
          </a:p>
          <a:p/>
          <a:p>
            <a:r>
              <a:rPr sz="1500" b="0">
                <a:solidFill>
                  <a:srgbClr val="1F2937"/>
                </a:solidFill>
                <a:latin typeface="Microsoft YaHei"/>
              </a:rPr>
              <a:t>1 周</a:t>
            </a:r>
          </a:p>
          <a:p>
            <a:r>
              <a:rPr sz="1500" b="0">
                <a:solidFill>
                  <a:srgbClr val="1F2937"/>
                </a:solidFill>
                <a:latin typeface="Microsoft YaHei"/>
              </a:rPr>
              <a:t>拿到可比 TB smoke baseline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743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43B9"/>
                </a:solidFill>
                <a:latin typeface="Microsoft YaHei" pitchFamily="34" charset="0"/>
                <a:ea typeface="Arial" pitchFamily="34" charset="-122"/>
                <a:cs typeface="Arial" pitchFamily="34" charset="-120"/>
              </a:rPr>
              <a:t>CompLife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433"/>
                </a:solidFill>
                <a:latin typeface="Microsoft YaHei" pitchFamily="34" charset="0"/>
                <a:ea typeface="Alibaba PuHuiTi Medium" pitchFamily="34" charset="-122"/>
                <a:cs typeface="Alibaba PuHuiTi Medium" pitchFamily="34" charset="-120"/>
              </a:rPr>
              <a:t>研究主线  </a:t>
            </a:r>
            <a:r>
              <a:rPr lang="en-US" sz="1150" dirty="0">
                <a:solidFill>
                  <a:srgbClr val="6B7685"/>
                </a:solidFill>
                <a:latin typeface="Microsoft YaHei" pitchFamily="34" charset="0"/>
                <a:ea typeface="Alibaba PuHuiTi Medium" pitchFamily="34" charset="-122"/>
                <a:cs typeface="Alibaba PuHuiTi Medium" pitchFamily="34" charset="-120"/>
              </a:rPr>
              <a:t>The Claim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777240"/>
            <a:ext cx="640080" cy="640080"/>
          </a:xfrm>
          <a:prstGeom prst="ellipse">
            <a:avLst/>
          </a:prstGeom>
          <a:solidFill>
            <a:srgbClr val="0043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54480" y="749808"/>
            <a:ext cx="9948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E2433"/>
                </a:solidFill>
                <a:latin typeface="Microsoft YaHei" pitchFamily="34" charset="0"/>
                <a:ea typeface="Alibaba PuHuiTi Medium" pitchFamily="34" charset="-122"/>
                <a:cs typeface="Alibaba PuHuiTi Medium" pitchFamily="34" charset="-120"/>
              </a:rPr>
              <a:t>我们想证明什么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126187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685"/>
                </a:solidFill>
                <a:latin typeface="Microsoft YaHei" pitchFamily="34" charset="0"/>
                <a:ea typeface="Alibaba PuHuiTi Medium" pitchFamily="34" charset="-122"/>
                <a:cs typeface="Alibaba PuHuiTi Medium" pitchFamily="34" charset="-120"/>
              </a:rPr>
              <a:t>项目的主线 claim —— 几乎每周不变，但每周都要重述。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874520"/>
            <a:ext cx="10817352" cy="1554480"/>
          </a:xfrm>
          <a:prstGeom prst="roundRect">
            <a:avLst>
              <a:gd name="adj" fmla="val 5294"/>
            </a:avLst>
          </a:prstGeom>
          <a:solidFill>
            <a:srgbClr val="EAF0FF"/>
          </a:solidFill>
          <a:ln w="12700">
            <a:solidFill>
              <a:srgbClr val="D5DEEC"/>
            </a:solidFill>
            <a:prstDash val="solid"/>
          </a:ln>
          <a:effectLst>
            <a:outerShdw blurRad="114300" dist="38100" dir="5400000" algn="bl" rotWithShape="0">
              <a:srgbClr val="9AA8BE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1832" y="2075688"/>
            <a:ext cx="10305288" cy="1152144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t"/>
          <a:lstStyle/>
          <a:p>
            <a:r>
              <a:rPr sz="1600" b="0">
                <a:solidFill>
                  <a:srgbClr val="1F2937"/>
                </a:solidFill>
                <a:latin typeface="Microsoft YaHei"/>
              </a:rPr>
              <a:t>核心 claim（一句话）</a:t>
            </a:r>
          </a:p>
          <a:p>
            <a:r>
              <a:rPr sz="1600" b="0">
                <a:solidFill>
                  <a:srgbClr val="1F2937"/>
                </a:solidFill>
                <a:latin typeface="Microsoft YaHei"/>
              </a:rPr>
              <a:t>LLM reflector 可以从多轮执行轨迹中提炼可迁移方法论，并安全更新 AGENTS.md，让同一 base agent 在新任务上持续改进，而不把答案或任务特例泄漏进 agent system。</a:t>
            </a:r>
          </a:p>
        </p:txBody>
      </p:sp>
      <p:sp>
        <p:nvSpPr>
          <p:cNvPr id="10" name="Shape 8"/>
          <p:cNvSpPr/>
          <p:nvPr/>
        </p:nvSpPr>
        <p:spPr>
          <a:xfrm>
            <a:off x="685800" y="3657600"/>
            <a:ext cx="5225796" cy="20574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  <a:effectLst>
            <a:outerShdw blurRad="114300" dist="38100" dir="5400000" algn="bl" rotWithShape="0">
              <a:srgbClr val="9AA8BE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1832" y="3858768"/>
            <a:ext cx="4713732" cy="1655064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t"/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自上周有无变化？</a:t>
            </a:r>
          </a:p>
          <a:p>
            <a:r>
              <a:rPr sz="1500" b="0">
                <a:solidFill>
                  <a:srgbClr val="1F2937"/>
                </a:solidFill>
                <a:latin typeface="Microsoft YaHei"/>
              </a:rPr>
              <a:t>[ 收紧为：先证明“可比评估闭环”下的增益 ]</a:t>
            </a:r>
          </a:p>
          <a:p/>
          <a:p>
            <a:r>
              <a:rPr sz="1500" b="0">
                <a:solidFill>
                  <a:srgbClr val="1F2937"/>
                </a:solidFill>
                <a:latin typeface="Microsoft YaHei"/>
              </a:rPr>
              <a:t>变化证据：Terminal Bench 13/89 baseline 不是官方 Codex 能力问题，而是 EvoLabHarborAgent / 可见测试 bridge 问题。</a:t>
            </a:r>
          </a:p>
        </p:txBody>
      </p:sp>
      <p:sp>
        <p:nvSpPr>
          <p:cNvPr id="12" name="Shape 10"/>
          <p:cNvSpPr/>
          <p:nvPr/>
        </p:nvSpPr>
        <p:spPr>
          <a:xfrm>
            <a:off x="6277356" y="3657600"/>
            <a:ext cx="5225796" cy="20574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  <a:effectLst>
            <a:outerShdw blurRad="114300" dist="38100" dir="5400000" algn="bl" rotWithShape="0">
              <a:srgbClr val="9AA8BE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33388" y="3858768"/>
            <a:ext cx="4713732" cy="1655064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t"/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这个 claim 为什么重要？</a:t>
            </a:r>
          </a:p>
          <a:p>
            <a:r>
              <a:rPr sz="1500" b="0">
                <a:solidFill>
                  <a:srgbClr val="1F2937"/>
                </a:solidFill>
                <a:latin typeface="Microsoft YaHei"/>
              </a:rPr>
              <a:t>如果成立，benchmark 经验可以沉淀为通用 agent system，而不是为每个任务手写 prompt、手工调工具或把答案模式塞进系统指令。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743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43B9"/>
                </a:solidFill>
                <a:latin typeface="Microsoft YaHei" pitchFamily="34" charset="0"/>
                <a:ea typeface="Arial" pitchFamily="34" charset="-122"/>
                <a:cs typeface="Arial" pitchFamily="34" charset="-120"/>
              </a:rPr>
              <a:t>CompLife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433"/>
                </a:solidFill>
                <a:latin typeface="Microsoft YaHei" pitchFamily="34" charset="0"/>
                <a:ea typeface="Alibaba PuHuiTi Medium" pitchFamily="34" charset="-122"/>
                <a:cs typeface="Alibaba PuHuiTi Medium" pitchFamily="34" charset="-120"/>
              </a:rPr>
              <a:t>本周证据  </a:t>
            </a:r>
            <a:r>
              <a:rPr lang="en-US" sz="1150" dirty="0">
                <a:solidFill>
                  <a:srgbClr val="6B7685"/>
                </a:solidFill>
                <a:latin typeface="Microsoft YaHei" pitchFamily="34" charset="0"/>
                <a:ea typeface="Alibaba PuHuiTi Medium" pitchFamily="34" charset="-122"/>
                <a:cs typeface="Alibaba PuHuiTi Medium" pitchFamily="34" charset="-120"/>
              </a:rPr>
              <a:t>Evidence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777240"/>
            <a:ext cx="640080" cy="640080"/>
          </a:xfrm>
          <a:prstGeom prst="ellipse">
            <a:avLst/>
          </a:prstGeom>
          <a:solidFill>
            <a:srgbClr val="0043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54480" y="749808"/>
            <a:ext cx="9948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E2433"/>
                </a:solidFill>
                <a:latin typeface="Microsoft YaHei" pitchFamily="34" charset="0"/>
                <a:ea typeface="Alibaba PuHuiTi Medium" pitchFamily="34" charset="-122"/>
                <a:cs typeface="Alibaba PuHuiTi Medium" pitchFamily="34" charset="-120"/>
              </a:rPr>
              <a:t>本周进展：写证据，不写活动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126187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685"/>
                </a:solidFill>
                <a:latin typeface="Microsoft YaHei" pitchFamily="34" charset="0"/>
                <a:ea typeface="Alibaba PuHuiTi Medium" pitchFamily="34" charset="-122"/>
                <a:cs typeface="Alibaba PuHuiTi Medium" pitchFamily="34" charset="-120"/>
              </a:rPr>
              <a:t>把「我做了什么」翻译成「我现在能说什么」。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74520"/>
          <a:ext cx="10817352" cy="3145536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libaba PuHuiTi Medium" pitchFamily="34" charset="0"/>
                          <a:ea typeface="Alibaba PuHuiTi Medium" pitchFamily="34" charset="-122"/>
                          <a:cs typeface="Alibaba PuHuiTi Medium" pitchFamily="34" charset="-120"/>
                        </a:rPr>
                        <a:t>新结果 / 证据</a:t>
                      </a:r>
                      <a:endParaRPr lang="en-US" sz="1400" dirty="0">
                        <a:latin typeface="Alibaba PuHuiTi Medium" charset="0"/>
                        <a:ea typeface="Alibaba PuHuiTi Medium" charset="0"/>
                        <a:cs typeface="Alibaba PuHuiTi Medium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B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libaba PuHuiTi Medium" pitchFamily="34" charset="0"/>
                          <a:ea typeface="Alibaba PuHuiTi Medium" pitchFamily="34" charset="-122"/>
                          <a:cs typeface="Alibaba PuHuiTi Medium" pitchFamily="34" charset="-120"/>
                        </a:rPr>
                        <a:t>它说明了什么</a:t>
                      </a:r>
                      <a:endParaRPr lang="en-US" sz="1400" dirty="0">
                        <a:latin typeface="Alibaba PuHuiTi Medium" charset="0"/>
                        <a:ea typeface="Alibaba PuHuiTi Medium" charset="0"/>
                        <a:cs typeface="Alibaba PuHuiTi Medium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B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libaba PuHuiTi Medium" pitchFamily="34" charset="0"/>
                          <a:ea typeface="Alibaba PuHuiTi Medium" pitchFamily="34" charset="-122"/>
                          <a:cs typeface="Alibaba PuHuiTi Medium" pitchFamily="34" charset="-120"/>
                        </a:rPr>
                        <a:t>支持 / 削弱哪个 claim</a:t>
                      </a:r>
                      <a:endParaRPr lang="en-US" sz="1400" dirty="0">
                        <a:latin typeface="Alibaba PuHuiTi Medium" charset="0"/>
                        <a:ea typeface="Alibaba PuHuiTi Medium" charset="0"/>
                        <a:cs typeface="Alibaba PuHuiTi Medium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B7685"/>
                          </a:solidFill>
                          <a:latin typeface="Alibaba PuHuiTi Medium" pitchFamily="34" charset="0"/>
                          <a:ea typeface="Alibaba PuHuiTi Medium" pitchFamily="34" charset="-122"/>
                          <a:cs typeface="Alibaba PuHuiTi Medium" pitchFamily="34" charset="-120"/>
                        </a:rPr>
                        <a:t>1.  ____________</a:t>
                      </a:r>
                      <a:endParaRPr lang="en-US" sz="1300" dirty="0">
                        <a:latin typeface="Alibaba PuHuiTi Medium" charset="0"/>
                        <a:ea typeface="Alibaba PuHuiTi Medium" charset="0"/>
                        <a:cs typeface="Alibaba PuHuiTi Medium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B7685"/>
                          </a:solidFill>
                          <a:latin typeface="Alibaba PuHuiTi Medium" pitchFamily="34" charset="0"/>
                          <a:ea typeface="Alibaba PuHuiTi Medium" pitchFamily="34" charset="-122"/>
                          <a:cs typeface="Alibaba PuHuiTi Medium" pitchFamily="34" charset="-120"/>
                        </a:rPr>
                        <a:t>→  ____________</a:t>
                      </a:r>
                      <a:endParaRPr lang="en-US" sz="1300" dirty="0">
                        <a:latin typeface="Alibaba PuHuiTi Medium" charset="0"/>
                        <a:ea typeface="Alibaba PuHuiTi Medium" charset="0"/>
                        <a:cs typeface="Alibaba PuHuiTi Medium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B7685"/>
                          </a:solidFill>
                          <a:latin typeface="Alibaba PuHuiTi Medium" pitchFamily="34" charset="0"/>
                          <a:ea typeface="Alibaba PuHuiTi Medium" pitchFamily="34" charset="-122"/>
                          <a:cs typeface="Alibaba PuHuiTi Medium" pitchFamily="34" charset="-120"/>
                        </a:rPr>
                        <a:t>[ 支持 / 削弱 ] ______</a:t>
                      </a:r>
                      <a:endParaRPr lang="en-US" sz="1300" dirty="0">
                        <a:latin typeface="Alibaba PuHuiTi Medium" charset="0"/>
                        <a:ea typeface="Alibaba PuHuiTi Medium" charset="0"/>
                        <a:cs typeface="Alibaba PuHuiTi Medium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B7685"/>
                          </a:solidFill>
                          <a:latin typeface="Alibaba PuHuiTi Medium" pitchFamily="34" charset="0"/>
                          <a:ea typeface="Alibaba PuHuiTi Medium" pitchFamily="34" charset="-122"/>
                          <a:cs typeface="Alibaba PuHuiTi Medium" pitchFamily="34" charset="-120"/>
                        </a:rPr>
                        <a:t>2.  ____________</a:t>
                      </a:r>
                      <a:endParaRPr lang="en-US" sz="1300" dirty="0">
                        <a:latin typeface="Alibaba PuHuiTi Medium" charset="0"/>
                        <a:ea typeface="Alibaba PuHuiTi Medium" charset="0"/>
                        <a:cs typeface="Alibaba PuHuiTi Medium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B7685"/>
                          </a:solidFill>
                          <a:latin typeface="Alibaba PuHuiTi Medium" pitchFamily="34" charset="0"/>
                          <a:ea typeface="Alibaba PuHuiTi Medium" pitchFamily="34" charset="-122"/>
                          <a:cs typeface="Alibaba PuHuiTi Medium" pitchFamily="34" charset="-120"/>
                        </a:rPr>
                        <a:t>→  ____________</a:t>
                      </a:r>
                      <a:endParaRPr lang="en-US" sz="1300" dirty="0">
                        <a:latin typeface="Alibaba PuHuiTi Medium" charset="0"/>
                        <a:ea typeface="Alibaba PuHuiTi Medium" charset="0"/>
                        <a:cs typeface="Alibaba PuHuiTi Medium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B7685"/>
                          </a:solidFill>
                          <a:latin typeface="Alibaba PuHuiTi Medium" pitchFamily="34" charset="0"/>
                          <a:ea typeface="Alibaba PuHuiTi Medium" pitchFamily="34" charset="-122"/>
                          <a:cs typeface="Alibaba PuHuiTi Medium" pitchFamily="34" charset="-120"/>
                        </a:rPr>
                        <a:t>[ 支持 / 削弱 ] ______</a:t>
                      </a:r>
                      <a:endParaRPr lang="en-US" sz="1300" dirty="0">
                        <a:latin typeface="Alibaba PuHuiTi Medium" charset="0"/>
                        <a:ea typeface="Alibaba PuHuiTi Medium" charset="0"/>
                        <a:cs typeface="Alibaba PuHuiTi Medium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B7685"/>
                          </a:solidFill>
                          <a:latin typeface="Alibaba PuHuiTi Medium" pitchFamily="34" charset="0"/>
                          <a:ea typeface="Alibaba PuHuiTi Medium" pitchFamily="34" charset="-122"/>
                          <a:cs typeface="Alibaba PuHuiTi Medium" pitchFamily="34" charset="-120"/>
                        </a:rPr>
                        <a:t>3.  ____________</a:t>
                      </a:r>
                      <a:endParaRPr lang="en-US" sz="1300" dirty="0">
                        <a:latin typeface="Alibaba PuHuiTi Medium" charset="0"/>
                        <a:ea typeface="Alibaba PuHuiTi Medium" charset="0"/>
                        <a:cs typeface="Alibaba PuHuiTi Medium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B7685"/>
                          </a:solidFill>
                          <a:latin typeface="Alibaba PuHuiTi Medium" pitchFamily="34" charset="0"/>
                          <a:ea typeface="Alibaba PuHuiTi Medium" pitchFamily="34" charset="-122"/>
                          <a:cs typeface="Alibaba PuHuiTi Medium" pitchFamily="34" charset="-120"/>
                        </a:rPr>
                        <a:t>→  ____________</a:t>
                      </a:r>
                      <a:endParaRPr lang="en-US" sz="1300" dirty="0">
                        <a:latin typeface="Alibaba PuHuiTi Medium" charset="0"/>
                        <a:ea typeface="Alibaba PuHuiTi Medium" charset="0"/>
                        <a:cs typeface="Alibaba PuHuiTi Medium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B7685"/>
                          </a:solidFill>
                          <a:latin typeface="Alibaba PuHuiTi Medium" pitchFamily="34" charset="0"/>
                          <a:ea typeface="Alibaba PuHuiTi Medium" pitchFamily="34" charset="-122"/>
                          <a:cs typeface="Alibaba PuHuiTi Medium" pitchFamily="34" charset="-120"/>
                        </a:rPr>
                        <a:t>[ 支持 / 削弱 ] ______</a:t>
                      </a:r>
                      <a:endParaRPr lang="en-US" sz="1300" dirty="0">
                        <a:latin typeface="Alibaba PuHuiTi Medium" charset="0"/>
                        <a:ea typeface="Alibaba PuHuiTi Medium" charset="0"/>
                        <a:cs typeface="Alibaba PuHuiTi Medium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600200"/>
          <a:ext cx="100584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3886200"/>
                <a:gridCol w="3108960"/>
              </a:tblGrid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新结果 / 证据</a:t>
                      </a:r>
                    </a:p>
                  </a:txBody>
                  <a:tcPr marL="63500" marR="63500" marT="50800" marB="50800" anchor="t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它说明了什么</a:t>
                      </a:r>
                    </a:p>
                  </a:txBody>
                  <a:tcPr marL="63500" marR="63500" marT="50800" marB="50800" anchor="t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支持 / 削弱哪个 claim</a:t>
                      </a:r>
                    </a:p>
                  </a:txBody>
                  <a:tcPr marL="63500" marR="63500" marT="50800" marB="50800" anchor="t">
                    <a:solidFill>
                      <a:srgbClr val="2563EB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Agent-system reflector 方法落地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- LLM-based reflector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- golden-standard evaluator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- 安全/泄漏 review 修复</a:t>
                      </a:r>
                    </a:p>
                  </a:txBody>
                  <a:tcPr marL="63500" marR="63500" marT="50800" marB="508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演化不再只是“反思后直接改 prompt”，而是一个可审计算法：读轨迹、读评估、抽象成方法论、过泄漏/空话审计后更新。</a:t>
                      </a:r>
                    </a:p>
                  </a:txBody>
                  <a:tcPr marL="63500" marR="63500" marT="50800" marB="508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支持：agent system 可以被轨迹驱动地改进，但必须有 evaluator 与审计约束。</a:t>
                      </a:r>
                    </a:p>
                  </a:txBody>
                  <a:tcPr marL="63500" marR="63500" marT="50800" marB="50800" anchor="t">
                    <a:solidFill>
                      <a:srgbClr val="FFFFFF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生物组件抽取实验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- 5 篇训练集多轮演化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- 23 篇测试集对照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- canonical article id 问题定位</a:t>
                      </a:r>
                    </a:p>
                  </a:txBody>
                  <a:tcPr marL="63500" marR="63500" marT="50800" marB="50800" anchor="t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进化能发现方法问题，但也会出现 coverage collapse：reflector 写得太泛会让执行 agent 少抽组件；需要基于所有历史轨迹和结果演化。</a:t>
                      </a:r>
                    </a:p>
                  </a:txBody>
                  <a:tcPr marL="63500" marR="63500" marT="50800" marB="50800" anchor="t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支持并收紧：演化信号要覆盖“成功 + 失败 + 退化”，不能只看最近一轮。</a:t>
                      </a:r>
                    </a:p>
                  </a:txBody>
                  <a:tcPr marL="63500" marR="63500" marT="50800" marB="50800" anchor="t">
                    <a:solidFill>
                      <a:srgbClr val="F8FAFC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Terminal Bench 2.1 full baseline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- 89/89 完成，0 exceptions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- EvoLab wrapper：13/89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- 39 个 report 出现 No visible test entrypoint</a:t>
                      </a:r>
                    </a:p>
                  </a:txBody>
                  <a:tcPr marL="63500" marR="63500" marT="50800" marB="508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低分不是 gpt-5.4 官方能力上限，而是当前 TB bridge 与官方 Codex harness 不等价；baseline 必须重跑成官方 Codex agent。</a:t>
                      </a:r>
                    </a:p>
                  </a:txBody>
                  <a:tcPr marL="63500" marR="63500" marT="50800" marB="508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削弱当前 TB 结论：现有 baseline 只能说明 EvoLab bridge 问题，不能比较 70%+ leaderboard。</a:t>
                      </a:r>
                    </a:p>
                  </a:txBody>
                  <a:tcPr marL="63500" marR="63500" marT="50800" marB="5080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743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43B9"/>
                </a:solidFill>
                <a:latin typeface="Microsoft YaHei" pitchFamily="34" charset="0"/>
                <a:ea typeface="Arial" pitchFamily="34" charset="-122"/>
                <a:cs typeface="Arial" pitchFamily="34" charset="-120"/>
              </a:rPr>
              <a:t>CompLife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433"/>
                </a:solidFill>
                <a:latin typeface="Microsoft YaHei" pitchFamily="34" charset="0"/>
                <a:ea typeface="Alibaba PuHuiTi Medium" pitchFamily="34" charset="-122"/>
                <a:cs typeface="Alibaba PuHuiTi Medium" pitchFamily="34" charset="-120"/>
              </a:rPr>
              <a:t>最强证据  </a:t>
            </a:r>
            <a:r>
              <a:rPr lang="en-US" sz="1150" dirty="0">
                <a:solidFill>
                  <a:srgbClr val="6B7685"/>
                </a:solidFill>
                <a:latin typeface="Microsoft YaHei" pitchFamily="34" charset="0"/>
                <a:ea typeface="Alibaba PuHuiTi Medium" pitchFamily="34" charset="-122"/>
                <a:cs typeface="Alibaba PuHuiTi Medium" pitchFamily="34" charset="-120"/>
              </a:rPr>
              <a:t>Key Result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777240"/>
            <a:ext cx="640080" cy="640080"/>
          </a:xfrm>
          <a:prstGeom prst="ellipse">
            <a:avLst/>
          </a:prstGeom>
          <a:solidFill>
            <a:srgbClr val="0043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54480" y="749808"/>
            <a:ext cx="9948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E2433"/>
                </a:solidFill>
                <a:latin typeface="Microsoft YaHei" pitchFamily="34" charset="0"/>
                <a:ea typeface="Alibaba PuHuiTi Medium" pitchFamily="34" charset="-122"/>
                <a:cs typeface="Alibaba PuHuiTi Medium" pitchFamily="34" charset="-120"/>
              </a:rPr>
              <a:t>本周最强证据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126187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685"/>
                </a:solidFill>
                <a:latin typeface="Microsoft YaHei" pitchFamily="34" charset="0"/>
                <a:ea typeface="Alibaba PuHuiTi Medium" pitchFamily="34" charset="-122"/>
                <a:cs typeface="Alibaba PuHuiTi Medium" pitchFamily="34" charset="-120"/>
              </a:rPr>
              <a:t>挑一个结果放大讲，并且自己先挑战它。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874520"/>
            <a:ext cx="5120640" cy="3931920"/>
          </a:xfrm>
          <a:prstGeom prst="roundRect">
            <a:avLst>
              <a:gd name="adj" fmla="val 2093"/>
            </a:avLst>
          </a:prstGeom>
          <a:solidFill>
            <a:srgbClr val="F4F7FC"/>
          </a:solidFill>
          <a:ln w="15875">
            <a:solidFill>
              <a:srgbClr val="7FA4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10" name="Shape 8"/>
          <p:cNvSpPr/>
          <p:nvPr/>
        </p:nvSpPr>
        <p:spPr>
          <a:xfrm>
            <a:off x="6172200" y="1874520"/>
            <a:ext cx="5330952" cy="1737360"/>
          </a:xfrm>
          <a:prstGeom prst="roundRect">
            <a:avLst>
              <a:gd name="adj" fmla="val 4737"/>
            </a:avLst>
          </a:prstGeom>
          <a:solidFill>
            <a:srgbClr val="EAF0FF"/>
          </a:solidFill>
          <a:ln w="12700">
            <a:solidFill>
              <a:srgbClr val="D5DEEC"/>
            </a:solidFill>
            <a:prstDash val="solid"/>
          </a:ln>
          <a:effectLst>
            <a:outerShdw blurRad="114300" dist="38100" dir="5400000" algn="bl" rotWithShape="0">
              <a:srgbClr val="9AA8BE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28232" y="2075688"/>
            <a:ext cx="4818888" cy="1335024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t"/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它意味着什么？</a:t>
            </a:r>
          </a:p>
          <a:p>
            <a:r>
              <a:rPr sz="1500" b="0">
                <a:solidFill>
                  <a:srgbClr val="1F2937"/>
                </a:solidFill>
                <a:latin typeface="Microsoft YaHei"/>
              </a:rPr>
              <a:t>这次跑出来的是 EvoLab Terminal-Bench bridge 的 baseline，不是官方 Codex+gpt-5.4 baseline。输出不匹配、服务没启动，多数来自 agent 没拿到有效测试反馈或过早 blocked。</a:t>
            </a:r>
          </a:p>
        </p:txBody>
      </p:sp>
      <p:sp>
        <p:nvSpPr>
          <p:cNvPr id="12" name="Shape 10"/>
          <p:cNvSpPr/>
          <p:nvPr/>
        </p:nvSpPr>
        <p:spPr>
          <a:xfrm>
            <a:off x="6172200" y="3794760"/>
            <a:ext cx="5330952" cy="2011680"/>
          </a:xfrm>
          <a:prstGeom prst="roundRect">
            <a:avLst>
              <a:gd name="adj" fmla="val 4091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  <a:effectLst>
            <a:outerShdw blurRad="114300" dist="38100" dir="5400000" algn="bl" rotWithShape="0">
              <a:srgbClr val="9AA8BE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28232" y="3995928"/>
            <a:ext cx="4818888" cy="1609344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t"/>
          <a:lstStyle/>
          <a:p>
            <a:r>
              <a:rPr sz="1500" b="0">
                <a:solidFill>
                  <a:srgbClr val="DC2626"/>
                </a:solidFill>
                <a:latin typeface="Microsoft YaHei"/>
              </a:rPr>
              <a:t>它站得住吗？</a:t>
            </a:r>
          </a:p>
          <a:p>
            <a:r>
              <a:rPr sz="1500" b="0">
                <a:solidFill>
                  <a:srgbClr val="DC2626"/>
                </a:solidFill>
                <a:latin typeface="Microsoft YaHei"/>
              </a:rPr>
              <a:t>内部口径站得住：89 个任务都完成，Harbor verifier 正常给分。</a:t>
            </a:r>
          </a:p>
          <a:p/>
          <a:p>
            <a:r>
              <a:rPr sz="1500" b="0">
                <a:solidFill>
                  <a:srgbClr val="DC2626"/>
                </a:solidFill>
                <a:latin typeface="Microsoft YaHei"/>
              </a:rPr>
              <a:t>可比口径不站得住：要和 70%+ leaderboard 比，必须切到官方 Codex CLI / 官方 TB agent，再把 Polar 演化作为 AGENTS.md overlay 注入。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85800" y="1664208"/>
          <a:ext cx="480060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2834640"/>
              </a:tblGrid>
              <a:tr h="6019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Terminal Bench baseline</a:t>
                      </a:r>
                    </a:p>
                  </a:txBody>
                  <a:tcPr marL="63500" marR="63500" marT="50800" marB="50800" anchor="t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结果</a:t>
                      </a:r>
                    </a:p>
                  </a:txBody>
                  <a:tcPr marL="63500" marR="63500" marT="50800" marB="50800" anchor="t">
                    <a:solidFill>
                      <a:srgbClr val="2563EB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Task set</a:t>
                      </a:r>
                    </a:p>
                  </a:txBody>
                  <a:tcPr marL="63500" marR="63500" marT="50800" marB="508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Terminal Bench 2.1 full：89 tasks</a:t>
                      </a:r>
                    </a:p>
                  </a:txBody>
                  <a:tcPr marL="63500" marR="63500" marT="50800" marB="50800" anchor="t"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Agent actually used</a:t>
                      </a:r>
                    </a:p>
                  </a:txBody>
                  <a:tcPr marL="63500" marR="63500" marT="50800" marB="50800" anchor="t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EvoLabHarborAgent + gpt-5.4-mini</a:t>
                      </a:r>
                    </a:p>
                  </a:txBody>
                  <a:tcPr marL="63500" marR="63500" marT="50800" marB="50800" anchor="t">
                    <a:solidFill>
                      <a:srgbClr val="F8FAFC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Evolution</a:t>
                      </a:r>
                    </a:p>
                  </a:txBody>
                  <a:tcPr marL="63500" marR="63500" marT="50800" marB="508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disabled：memory / overlay / skill graph / role pool 全关</a:t>
                      </a:r>
                    </a:p>
                  </a:txBody>
                  <a:tcPr marL="63500" marR="63500" marT="50800" marB="50800" anchor="t"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Score</a:t>
                      </a:r>
                    </a:p>
                  </a:txBody>
                  <a:tcPr marL="63500" marR="63500" marT="50800" marB="50800" anchor="t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13/89 = 14.6%，0 exceptions</a:t>
                      </a:r>
                    </a:p>
                  </a:txBody>
                  <a:tcPr marL="63500" marR="63500" marT="50800" marB="50800" anchor="t">
                    <a:solidFill>
                      <a:srgbClr val="F8FAFC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Key diagnostic</a:t>
                      </a:r>
                    </a:p>
                  </a:txBody>
                  <a:tcPr marL="63500" marR="63500" marT="50800" marB="508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39 个 agent report 以为没有可见测试；其中 33 个失败</a:t>
                      </a:r>
                    </a:p>
                  </a:txBody>
                  <a:tcPr marL="63500" marR="63500" marT="50800" marB="5080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743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43B9"/>
                </a:solidFill>
                <a:latin typeface="Microsoft YaHei" pitchFamily="34" charset="0"/>
                <a:ea typeface="Arial" pitchFamily="34" charset="-122"/>
                <a:cs typeface="Arial" pitchFamily="34" charset="-120"/>
              </a:rPr>
              <a:t>CompLife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433"/>
                </a:solidFill>
                <a:latin typeface="Microsoft YaHei" pitchFamily="34" charset="0"/>
                <a:ea typeface="Alibaba PuHuiTi Medium" pitchFamily="34" charset="-122"/>
                <a:cs typeface="Alibaba PuHuiTi Medium" pitchFamily="34" charset="-120"/>
              </a:rPr>
              <a:t>决策点  </a:t>
            </a:r>
            <a:r>
              <a:rPr lang="en-US" sz="1150" dirty="0">
                <a:solidFill>
                  <a:srgbClr val="6B7685"/>
                </a:solidFill>
                <a:latin typeface="Microsoft YaHei" pitchFamily="34" charset="0"/>
                <a:ea typeface="Alibaba PuHuiTi Medium" pitchFamily="34" charset="-122"/>
                <a:cs typeface="Alibaba PuHuiTi Medium" pitchFamily="34" charset="-120"/>
              </a:rPr>
              <a:t>Decision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777240"/>
            <a:ext cx="640080" cy="640080"/>
          </a:xfrm>
          <a:prstGeom prst="ellipse">
            <a:avLst/>
          </a:prstGeom>
          <a:solidFill>
            <a:srgbClr val="0043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54480" y="749808"/>
            <a:ext cx="9948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E2433"/>
                </a:solidFill>
                <a:latin typeface="Microsoft YaHei" pitchFamily="34" charset="0"/>
                <a:ea typeface="Alibaba PuHuiTi Medium" pitchFamily="34" charset="-122"/>
                <a:cs typeface="Alibaba PuHuiTi Medium" pitchFamily="34" charset="-120"/>
              </a:rPr>
              <a:t>卡点</a:t>
            </a:r>
            <a:r>
              <a:rPr lang="en-US" sz="2600" b="1" dirty="0">
                <a:solidFill>
                  <a:srgbClr val="1E2433"/>
                </a:solidFill>
                <a:latin typeface="Microsoft YaHei" pitchFamily="34" charset="0"/>
                <a:ea typeface="Alibaba PuHuiTi Medium" pitchFamily="34" charset="-122"/>
                <a:cs typeface="Alibaba PuHuiTi Medium" pitchFamily="34" charset="-120"/>
              </a:rPr>
              <a:t> &amp; </a:t>
            </a:r>
            <a:r>
              <a:rPr lang="en-US" sz="2600" b="1" dirty="0" err="1">
                <a:solidFill>
                  <a:srgbClr val="1E2433"/>
                </a:solidFill>
                <a:latin typeface="Microsoft YaHei" pitchFamily="34" charset="0"/>
                <a:ea typeface="Alibaba PuHuiTi Medium" pitchFamily="34" charset="-122"/>
                <a:cs typeface="Alibaba PuHuiTi Medium" pitchFamily="34" charset="-120"/>
              </a:rPr>
              <a:t>需要老师判断的决策</a:t>
            </a:r>
            <a:r>
              <a:rPr lang="en-US" sz="1400" dirty="0">
                <a:solidFill>
                  <a:srgbClr val="7FA4FF"/>
                </a:solidFill>
                <a:latin typeface="Microsoft YaHei" pitchFamily="34" charset="0"/>
                <a:ea typeface="Alibaba PuHuiTi Medium" pitchFamily="34" charset="-122"/>
                <a:cs typeface="Alibaba PuHuiTi Medium" pitchFamily="34" charset="-120"/>
              </a:rPr>
              <a:t>  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126187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685"/>
                </a:solidFill>
                <a:latin typeface="Microsoft YaHei" pitchFamily="34" charset="0"/>
                <a:ea typeface="Alibaba PuHuiTi Medium" pitchFamily="34" charset="-122"/>
                <a:cs typeface="Alibaba PuHuiTi Medium" pitchFamily="34" charset="-120"/>
              </a:rPr>
              <a:t>这一页是整场会议的引擎。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10817352" cy="1188720"/>
          </a:xfrm>
          <a:prstGeom prst="roundRect">
            <a:avLst>
              <a:gd name="adj" fmla="val 6923"/>
            </a:avLst>
          </a:prstGeom>
          <a:solidFill>
            <a:srgbClr val="FFF0D6"/>
          </a:solidFill>
          <a:ln w="12700">
            <a:solidFill>
              <a:srgbClr val="D5DEEC"/>
            </a:solidFill>
            <a:prstDash val="solid"/>
          </a:ln>
          <a:effectLst>
            <a:outerShdw blurRad="114300" dist="38100" dir="5400000" algn="bl" rotWithShape="0">
              <a:srgbClr val="9AA8BE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1832" y="2029968"/>
            <a:ext cx="10305288" cy="786384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t"/>
          <a:lstStyle/>
          <a:p>
            <a:r>
              <a:rPr sz="1600" b="0">
                <a:solidFill>
                  <a:srgbClr val="1F2937"/>
                </a:solidFill>
                <a:latin typeface="Microsoft YaHei"/>
              </a:rPr>
              <a:t>我卡在什么判断上？</a:t>
            </a:r>
          </a:p>
          <a:p>
            <a:r>
              <a:rPr sz="1600" b="0">
                <a:solidFill>
                  <a:srgbClr val="1F2937"/>
                </a:solidFill>
                <a:latin typeface="Microsoft YaHei"/>
              </a:rPr>
              <a:t>Terminal Bench 接下来到底要优化 EvoLab wrapper，还是先建立一个与官方 leaderboard 可比的 Codex baseline？这会决定后续演化信号是否可信。</a:t>
            </a:r>
          </a:p>
        </p:txBody>
      </p:sp>
      <p:sp>
        <p:nvSpPr>
          <p:cNvPr id="10" name="Shape 8"/>
          <p:cNvSpPr/>
          <p:nvPr/>
        </p:nvSpPr>
        <p:spPr>
          <a:xfrm>
            <a:off x="685800" y="3154680"/>
            <a:ext cx="5225796" cy="13716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  <a:effectLst>
            <a:outerShdw blurRad="114300" dist="38100" dir="5400000" algn="bl" rotWithShape="0">
              <a:srgbClr val="9AA8BE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1832" y="3355848"/>
            <a:ext cx="4713732" cy="969264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t"/>
          <a:lstStyle/>
          <a:p>
            <a:r>
              <a:rPr sz="1400" b="0">
                <a:solidFill>
                  <a:srgbClr val="1F2937"/>
                </a:solidFill>
                <a:latin typeface="Microsoft YaHei"/>
              </a:rPr>
              <a:t>我考虑过的方案 &amp; 各自 trade-off</a:t>
            </a:r>
          </a:p>
          <a:p>
            <a:r>
              <a:rPr sz="1400" b="0">
                <a:solidFill>
                  <a:srgbClr val="1F2937"/>
                </a:solidFill>
                <a:latin typeface="Microsoft YaHei"/>
              </a:rPr>
              <a:t>方案 A：继续 EvoLab wrapper（代价：要修 tb_run_tests/feedback bridge；初始分低，不可直接对比官方）</a:t>
            </a:r>
          </a:p>
          <a:p>
            <a:r>
              <a:rPr sz="1400" b="0">
                <a:solidFill>
                  <a:srgbClr val="1F2937"/>
                </a:solidFill>
                <a:latin typeface="Microsoft YaHei"/>
              </a:rPr>
              <a:t>方案 B：切到官方 Codex agent（代价：要做 transcript capture + AGENTS.md overlay；但 baseline 可比）</a:t>
            </a:r>
          </a:p>
        </p:txBody>
      </p:sp>
      <p:sp>
        <p:nvSpPr>
          <p:cNvPr id="12" name="Shape 10"/>
          <p:cNvSpPr/>
          <p:nvPr/>
        </p:nvSpPr>
        <p:spPr>
          <a:xfrm>
            <a:off x="6277356" y="3154680"/>
            <a:ext cx="5225796" cy="13716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  <a:effectLst>
            <a:outerShdw blurRad="114300" dist="38100" dir="5400000" algn="bl" rotWithShape="0">
              <a:srgbClr val="9AA8BE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33388" y="3355848"/>
            <a:ext cx="4713732" cy="969264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t"/>
          <a:lstStyle/>
          <a:p>
            <a:r>
              <a:rPr sz="1500" b="1">
                <a:solidFill>
                  <a:srgbClr val="1F2937"/>
                </a:solidFill>
                <a:latin typeface="Microsoft YaHei"/>
              </a:rPr>
              <a:t>我希望今天帮我决定的是</a:t>
            </a:r>
          </a:p>
          <a:p>
            <a:r>
              <a:rPr sz="1500" b="1">
                <a:solidFill>
                  <a:srgbClr val="1F2937"/>
                </a:solidFill>
                <a:latin typeface="Microsoft YaHei"/>
              </a:rPr>
              <a:t>下周主线是否改成“Codex-baseline-first”：先复现官方风格 baseline，再把 Polar evolution 限定为 agent-system overlay。</a:t>
            </a:r>
          </a:p>
        </p:txBody>
      </p:sp>
      <p:sp>
        <p:nvSpPr>
          <p:cNvPr id="14" name="Shape 12"/>
          <p:cNvSpPr/>
          <p:nvPr/>
        </p:nvSpPr>
        <p:spPr>
          <a:xfrm>
            <a:off x="685800" y="4663440"/>
            <a:ext cx="10817352" cy="1143000"/>
          </a:xfrm>
          <a:prstGeom prst="roundRect">
            <a:avLst>
              <a:gd name="adj" fmla="val 7200"/>
            </a:avLst>
          </a:prstGeom>
          <a:solidFill>
            <a:srgbClr val="FBF4E8"/>
          </a:solidFill>
          <a:ln w="12700">
            <a:solidFill>
              <a:srgbClr val="D5DEEC"/>
            </a:solidFill>
            <a:prstDash val="solid"/>
          </a:ln>
          <a:effectLst>
            <a:outerShdw blurRad="114300" dist="38100" dir="5400000" algn="bl" rotWithShape="0">
              <a:srgbClr val="9AA8BE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41832" y="4864608"/>
            <a:ext cx="10305288" cy="740664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t"/>
          <a:lstStyle/>
          <a:p>
            <a:r>
              <a:rPr sz="1500" b="0">
                <a:solidFill>
                  <a:srgbClr val="4B5563"/>
                </a:solidFill>
                <a:latin typeface="Microsoft YaHei"/>
              </a:rPr>
              <a:t>如果不先解决这个决策，后续多轮演化可能只是在优化 bridge bug，而不是优化 agent system。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654E1-4CD1-A447-A287-C421200A8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D0701D8-E786-F6B6-B6A2-81798C30B9B4}"/>
              </a:ext>
            </a:extLst>
          </p:cNvPr>
          <p:cNvSpPr/>
          <p:nvPr/>
        </p:nvSpPr>
        <p:spPr>
          <a:xfrm>
            <a:off x="8759952" y="2743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43B9"/>
                </a:solidFill>
                <a:latin typeface="Microsoft YaHei" pitchFamily="34" charset="0"/>
                <a:ea typeface="Arial" pitchFamily="34" charset="-122"/>
                <a:cs typeface="Arial" pitchFamily="34" charset="-120"/>
              </a:rPr>
              <a:t>CompLife Lab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0013816-6FCC-FDD8-F1DF-1E56158238F3}"/>
              </a:ext>
            </a:extLst>
          </p:cNvPr>
          <p:cNvSpPr/>
          <p:nvPr/>
        </p:nvSpPr>
        <p:spPr>
          <a:xfrm>
            <a:off x="685800" y="27432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1E2433"/>
                </a:solidFill>
                <a:latin typeface="Microsoft YaHei" pitchFamily="34" charset="0"/>
                <a:ea typeface="Alibaba PuHuiTi Medium" pitchFamily="34" charset="-122"/>
                <a:cs typeface="Alibaba PuHuiTi Medium" pitchFamily="34" charset="-120"/>
              </a:rPr>
              <a:t>下一步</a:t>
            </a:r>
            <a:r>
              <a:rPr lang="en-US" sz="1150" dirty="0">
                <a:solidFill>
                  <a:srgbClr val="1E2433"/>
                </a:solidFill>
                <a:latin typeface="Microsoft YaHei" pitchFamily="34" charset="0"/>
                <a:ea typeface="Alibaba PuHuiTi Medium" pitchFamily="34" charset="-122"/>
                <a:cs typeface="Alibaba PuHuiTi Medium" pitchFamily="34" charset="-120"/>
              </a:rPr>
              <a:t>  </a:t>
            </a:r>
            <a:r>
              <a:rPr lang="en-US" sz="1150" dirty="0">
                <a:solidFill>
                  <a:srgbClr val="6B7685"/>
                </a:solidFill>
                <a:latin typeface="Microsoft YaHei" pitchFamily="34" charset="0"/>
                <a:ea typeface="Alibaba PuHuiTi Medium" pitchFamily="34" charset="-122"/>
                <a:cs typeface="Alibaba PuHuiTi Medium" pitchFamily="34" charset="-120"/>
              </a:rPr>
              <a:t>Next Step</a:t>
            </a:r>
            <a:endParaRPr lang="en-US" sz="11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EC5D785-7DD4-0FE3-FE70-AB5325BBA020}"/>
              </a:ext>
            </a:extLst>
          </p:cNvPr>
          <p:cNvSpPr/>
          <p:nvPr/>
        </p:nvSpPr>
        <p:spPr>
          <a:xfrm>
            <a:off x="685800" y="777240"/>
            <a:ext cx="640080" cy="640080"/>
          </a:xfrm>
          <a:prstGeom prst="ellipse">
            <a:avLst/>
          </a:prstGeom>
          <a:solidFill>
            <a:srgbClr val="0043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F1DF1C9-4A8A-F23D-74F0-C9797D6792A0}"/>
              </a:ext>
            </a:extLst>
          </p:cNvPr>
          <p:cNvSpPr/>
          <p:nvPr/>
        </p:nvSpPr>
        <p:spPr>
          <a:xfrm>
            <a:off x="685800" y="777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2600" b="1" dirty="0">
                <a:solidFill>
                  <a:srgbClr val="FFFFFF"/>
                </a:solidFill>
                <a:latin typeface="Microsoft YaHei" pitchFamily="34" charset="0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AC5A426-4561-80E6-52DA-0D89AAAAD486}"/>
              </a:ext>
            </a:extLst>
          </p:cNvPr>
          <p:cNvSpPr/>
          <p:nvPr/>
        </p:nvSpPr>
        <p:spPr>
          <a:xfrm>
            <a:off x="1554480" y="749808"/>
            <a:ext cx="9948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E2433"/>
                </a:solidFill>
                <a:latin typeface="Microsoft YaHei" pitchFamily="34" charset="0"/>
                <a:ea typeface="Alibaba PuHuiTi Medium" pitchFamily="34" charset="-122"/>
                <a:cs typeface="Alibaba PuHuiTi Medium" pitchFamily="34" charset="-120"/>
              </a:rPr>
              <a:t>下一步</a:t>
            </a:r>
            <a:r>
              <a:rPr lang="en-US" sz="2600" b="1" dirty="0">
                <a:solidFill>
                  <a:srgbClr val="1E2433"/>
                </a:solidFill>
                <a:latin typeface="Microsoft YaHei" pitchFamily="34" charset="0"/>
                <a:ea typeface="Alibaba PuHuiTi Medium" pitchFamily="34" charset="-122"/>
                <a:cs typeface="Alibaba PuHuiTi Medium" pitchFamily="34" charset="-120"/>
              </a:rPr>
              <a:t> &amp; </a:t>
            </a:r>
            <a:r>
              <a:rPr lang="en-US" sz="2600" b="1" dirty="0" err="1">
                <a:solidFill>
                  <a:srgbClr val="1E2433"/>
                </a:solidFill>
                <a:latin typeface="Microsoft YaHei" pitchFamily="34" charset="0"/>
                <a:ea typeface="Alibaba PuHuiTi Medium" pitchFamily="34" charset="-122"/>
                <a:cs typeface="Alibaba PuHuiTi Medium" pitchFamily="34" charset="-120"/>
              </a:rPr>
              <a:t>交付承诺</a:t>
            </a:r>
            <a:r>
              <a:rPr lang="en-US" sz="1400" dirty="0">
                <a:solidFill>
                  <a:srgbClr val="7FA4FF"/>
                </a:solidFill>
                <a:latin typeface="Microsoft YaHei" pitchFamily="34" charset="0"/>
                <a:ea typeface="Alibaba PuHuiTi Medium" pitchFamily="34" charset="-122"/>
                <a:cs typeface="Alibaba PuHuiTi Medium" pitchFamily="34" charset="-120"/>
              </a:rPr>
              <a:t>  </a:t>
            </a:r>
            <a:endParaRPr lang="en-US" sz="2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E67646-C465-6878-2AAA-48A8ADE89A0D}"/>
              </a:ext>
            </a:extLst>
          </p:cNvPr>
          <p:cNvSpPr/>
          <p:nvPr/>
        </p:nvSpPr>
        <p:spPr>
          <a:xfrm>
            <a:off x="1554480" y="126187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 err="1">
                <a:solidFill>
                  <a:srgbClr val="5B6B7A"/>
                </a:solidFill>
                <a:latin typeface="Microsoft YaHei" pitchFamily="34" charset="0"/>
                <a:ea typeface="Calibri" pitchFamily="34" charset="-122"/>
                <a:cs typeface="Calibri" pitchFamily="34" charset="-120"/>
              </a:rPr>
              <a:t>聚焦关键路径，并对自己问责</a:t>
            </a:r>
            <a:r>
              <a:rPr lang="en-US" sz="1200" i="1" dirty="0">
                <a:solidFill>
                  <a:srgbClr val="5B6B7A"/>
                </a:solidFill>
                <a:latin typeface="Microsoft YaHe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200" dirty="0"/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EA99599E-8378-60F2-C818-CB87A2EEA359}"/>
              </a:ext>
            </a:extLst>
          </p:cNvPr>
          <p:cNvSpPr/>
          <p:nvPr/>
        </p:nvSpPr>
        <p:spPr>
          <a:xfrm>
            <a:off x="685800" y="1783080"/>
            <a:ext cx="5225796" cy="1828800"/>
          </a:xfrm>
          <a:prstGeom prst="roundRect">
            <a:avLst>
              <a:gd name="adj" fmla="val 4500"/>
            </a:avLst>
          </a:prstGeom>
          <a:solidFill>
            <a:srgbClr val="EAF0FF"/>
          </a:solidFill>
          <a:ln w="12700">
            <a:solidFill>
              <a:srgbClr val="D5DEEC"/>
            </a:solidFill>
            <a:prstDash val="solid"/>
          </a:ln>
          <a:effectLst>
            <a:outerShdw blurRad="114300" dist="38100" dir="5400000" algn="bl" rotWithShape="0">
              <a:srgbClr val="9AA8BE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330EF1FA-046E-EF01-4C4A-F761BB5B8154}"/>
              </a:ext>
            </a:extLst>
          </p:cNvPr>
          <p:cNvSpPr/>
          <p:nvPr/>
        </p:nvSpPr>
        <p:spPr>
          <a:xfrm>
            <a:off x="941832" y="1984248"/>
            <a:ext cx="4713732" cy="1426464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t"/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下周关键路径上的 1–2 个动作</a:t>
            </a:r>
          </a:p>
          <a:p>
            <a:r>
              <a:rPr sz="1500" b="0">
                <a:solidFill>
                  <a:srgbClr val="1F2937"/>
                </a:solidFill>
                <a:latin typeface="Microsoft YaHei"/>
              </a:rPr>
              <a:t>1. 跑官方 Codex-style Terminal Bench smoke baseline，并记录 exact agent/import path/model/timeout/isolation。</a:t>
            </a:r>
          </a:p>
          <a:p>
            <a:r>
              <a:rPr sz="1500" b="0">
                <a:solidFill>
                  <a:srgbClr val="1F2937"/>
                </a:solidFill>
                <a:latin typeface="Microsoft YaHei"/>
              </a:rPr>
              <a:t>2. 把 Polar 演化接成 AGENTS.md overlay + transcript capture，先做 10-task smoke 对照。</a:t>
            </a:r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A44E718B-FBAA-EB4E-14EE-75068BA5CCD1}"/>
              </a:ext>
            </a:extLst>
          </p:cNvPr>
          <p:cNvSpPr/>
          <p:nvPr/>
        </p:nvSpPr>
        <p:spPr>
          <a:xfrm>
            <a:off x="6277356" y="1783080"/>
            <a:ext cx="5225796" cy="1828800"/>
          </a:xfrm>
          <a:prstGeom prst="roundRect">
            <a:avLst>
              <a:gd name="adj" fmla="val 4500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  <a:effectLst>
            <a:outerShdw blurRad="114300" dist="38100" dir="5400000" algn="bl" rotWithShape="0">
              <a:srgbClr val="9AA8BE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24A89841-1844-96E3-7905-EA30D6998FCE}"/>
              </a:ext>
            </a:extLst>
          </p:cNvPr>
          <p:cNvSpPr/>
          <p:nvPr/>
        </p:nvSpPr>
        <p:spPr>
          <a:xfrm>
            <a:off x="6533388" y="1984248"/>
            <a:ext cx="4713732" cy="1426464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t"/>
          <a:lstStyle/>
          <a:p>
            <a:r>
              <a:rPr sz="1500" b="1">
                <a:solidFill>
                  <a:srgbClr val="1F2937"/>
                </a:solidFill>
                <a:latin typeface="Microsoft YaHei"/>
              </a:rPr>
              <a:t>下次见面前我必须拿出</a:t>
            </a:r>
          </a:p>
          <a:p>
            <a:r>
              <a:rPr sz="1500" b="1">
                <a:solidFill>
                  <a:srgbClr val="1F2937"/>
                </a:solidFill>
                <a:latin typeface="Microsoft YaHei"/>
              </a:rPr>
              <a:t>一个可检验交付物：</a:t>
            </a:r>
          </a:p>
          <a:p>
            <a:r>
              <a:rPr sz="1500" b="1">
                <a:solidFill>
                  <a:srgbClr val="1F2937"/>
                </a:solidFill>
                <a:latin typeface="Microsoft YaHei"/>
              </a:rPr>
              <a:t>TB reproducibility matrix + 10-task 对照表</a:t>
            </a:r>
          </a:p>
          <a:p>
            <a:r>
              <a:rPr sz="1500" b="1">
                <a:solidFill>
                  <a:srgbClr val="1F2937"/>
                </a:solidFill>
                <a:latin typeface="Microsoft YaHei"/>
              </a:rPr>
              <a:t>(empty AGENTS.md vs evolved AGENTS.md)</a:t>
            </a:r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0A3B9D58-D055-DC7F-BCB0-B0DDA158A442}"/>
              </a:ext>
            </a:extLst>
          </p:cNvPr>
          <p:cNvSpPr/>
          <p:nvPr/>
        </p:nvSpPr>
        <p:spPr>
          <a:xfrm>
            <a:off x="685800" y="3840480"/>
            <a:ext cx="10817352" cy="1920240"/>
          </a:xfrm>
          <a:prstGeom prst="roundRect">
            <a:avLst>
              <a:gd name="adj" fmla="val 4286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  <a:effectLst>
            <a:outerShdw blurRad="114300" dist="38100" dir="5400000" algn="bl" rotWithShape="0">
              <a:srgbClr val="9AA8BE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8D01DA9C-BBAE-16E8-3531-20E8B6AABC4B}"/>
              </a:ext>
            </a:extLst>
          </p:cNvPr>
          <p:cNvSpPr/>
          <p:nvPr/>
        </p:nvSpPr>
        <p:spPr>
          <a:xfrm>
            <a:off x="941832" y="4041648"/>
            <a:ext cx="10305288" cy="1517904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t"/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要让 claim 真正站住，现在还缺哪块证据？最大的风险是什么？</a:t>
            </a:r>
          </a:p>
          <a:p>
            <a:r>
              <a:rPr sz="1500" b="0">
                <a:solidFill>
                  <a:srgbClr val="1F2937"/>
                </a:solidFill>
                <a:latin typeface="Microsoft YaHei"/>
              </a:rPr>
              <a:t>缺口：可比 baseline 下，evolved AGENTS.md 是否带来稳定增益。</a:t>
            </a:r>
          </a:p>
          <a:p>
            <a:r>
              <a:rPr sz="1500" b="0">
                <a:solidFill>
                  <a:srgbClr val="1F2937"/>
                </a:solidFill>
                <a:latin typeface="Microsoft YaHei"/>
              </a:rPr>
              <a:t>风险：如果 transcript capture 或 harness overlay 不等价，reflector 学到的是 wrapper 偏差而不是任务方法论。</a:t>
            </a:r>
          </a:p>
        </p:txBody>
      </p:sp>
    </p:spTree>
    <p:extLst>
      <p:ext uri="{BB962C8B-B14F-4D97-AF65-F5344CB8AC3E}">
        <p14:creationId xmlns:p14="http://schemas.microsoft.com/office/powerpoint/2010/main" val="2852971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2B630-43D3-E55D-D3EE-A24C35EDA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5B5A5C9-B643-284F-A0F9-7AF17BCDF2B0}"/>
              </a:ext>
            </a:extLst>
          </p:cNvPr>
          <p:cNvSpPr/>
          <p:nvPr/>
        </p:nvSpPr>
        <p:spPr>
          <a:xfrm>
            <a:off x="8759952" y="2743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43B9"/>
                </a:solidFill>
                <a:latin typeface="Microsoft YaHei" pitchFamily="34" charset="0"/>
                <a:ea typeface="Arial" pitchFamily="34" charset="-122"/>
                <a:cs typeface="Arial" pitchFamily="34" charset="-120"/>
              </a:rPr>
              <a:t>CompLife Lab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4C166D8-E6E0-169C-D039-8434BCA9C1CE}"/>
              </a:ext>
            </a:extLst>
          </p:cNvPr>
          <p:cNvSpPr/>
          <p:nvPr/>
        </p:nvSpPr>
        <p:spPr>
          <a:xfrm>
            <a:off x="685800" y="27432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1E2433"/>
                </a:solidFill>
                <a:latin typeface="Microsoft YaHei" pitchFamily="34" charset="0"/>
              </a:rPr>
              <a:t>相关工作</a:t>
            </a:r>
            <a:r>
              <a:rPr lang="zh-CN" altLang="en-US" sz="1150" dirty="0">
                <a:solidFill>
                  <a:srgbClr val="1E2433"/>
                </a:solidFill>
                <a:latin typeface="Microsoft YaHei" pitchFamily="34" charset="0"/>
              </a:rPr>
              <a:t> </a:t>
            </a:r>
            <a:r>
              <a:rPr lang="en-US" altLang="zh-CN" sz="1150" dirty="0">
                <a:solidFill>
                  <a:srgbClr val="1E2433"/>
                </a:solidFill>
                <a:latin typeface="Microsoft YaHei" pitchFamily="34" charset="0"/>
              </a:rPr>
              <a:t>Related</a:t>
            </a:r>
            <a:r>
              <a:rPr lang="zh-CN" altLang="en-US" sz="1150" dirty="0">
                <a:solidFill>
                  <a:srgbClr val="1E2433"/>
                </a:solidFill>
                <a:latin typeface="Microsoft YaHei" pitchFamily="34" charset="0"/>
              </a:rPr>
              <a:t> </a:t>
            </a:r>
            <a:r>
              <a:rPr lang="en-US" altLang="zh-CN" sz="1150" dirty="0">
                <a:solidFill>
                  <a:srgbClr val="1E2433"/>
                </a:solidFill>
                <a:latin typeface="Microsoft YaHei" pitchFamily="34" charset="0"/>
              </a:rPr>
              <a:t>Work</a:t>
            </a:r>
            <a:endParaRPr lang="en-US" sz="11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2DA6BFF-4B33-85A0-EF7F-9BAD5E344E31}"/>
              </a:ext>
            </a:extLst>
          </p:cNvPr>
          <p:cNvSpPr/>
          <p:nvPr/>
        </p:nvSpPr>
        <p:spPr>
          <a:xfrm>
            <a:off x="685800" y="777240"/>
            <a:ext cx="640080" cy="640080"/>
          </a:xfrm>
          <a:prstGeom prst="ellipse">
            <a:avLst/>
          </a:prstGeom>
          <a:solidFill>
            <a:srgbClr val="0043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7FABC72-25BF-C353-B93A-32B9CB546B80}"/>
              </a:ext>
            </a:extLst>
          </p:cNvPr>
          <p:cNvSpPr/>
          <p:nvPr/>
        </p:nvSpPr>
        <p:spPr>
          <a:xfrm>
            <a:off x="685800" y="777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2600" b="1" dirty="0">
                <a:solidFill>
                  <a:srgbClr val="FFFFFF"/>
                </a:solidFill>
                <a:latin typeface="Microsoft YaHei" pitchFamily="34" charset="0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A40D69F-8636-0D7E-3311-AE7333DEB30E}"/>
              </a:ext>
            </a:extLst>
          </p:cNvPr>
          <p:cNvSpPr/>
          <p:nvPr/>
        </p:nvSpPr>
        <p:spPr>
          <a:xfrm>
            <a:off x="1554480" y="749808"/>
            <a:ext cx="9948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 sz="2100" b="1">
                <a:solidFill>
                  <a:srgbClr val="000000"/>
                </a:solidFill>
              </a:defRPr>
            </a:pPr>
            <a:r>
              <a:t>相关工作（针对 agent-system 自进化）</a:t>
            </a:r>
            <a:endParaRPr lang="en-US" sz="2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62CC473-A804-82C3-C09A-C2AA8B077148}"/>
              </a:ext>
            </a:extLst>
          </p:cNvPr>
          <p:cNvSpPr/>
          <p:nvPr/>
        </p:nvSpPr>
        <p:spPr>
          <a:xfrm>
            <a:off x="1554480" y="126187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 sz="1400" b="0">
                <a:solidFill>
                  <a:srgbClr val="505050"/>
                </a:solidFill>
              </a:defRPr>
            </a:pPr>
            <a:r>
              <a:t>重点：如何避免退化、重复、过拟合</a:t>
            </a: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2B21313-E326-D1C0-6A29-F49268D5D036}"/>
              </a:ext>
            </a:extLst>
          </p:cNvPr>
          <p:cNvSpPr/>
          <p:nvPr/>
        </p:nvSpPr>
        <p:spPr>
          <a:xfrm>
            <a:off x="685800" y="1874520"/>
            <a:ext cx="5120640" cy="3931920"/>
          </a:xfrm>
          <a:prstGeom prst="roundRect">
            <a:avLst>
              <a:gd name="adj" fmla="val 2093"/>
            </a:avLst>
          </a:prstGeom>
          <a:solidFill>
            <a:srgbClr val="F4F7FC"/>
          </a:solidFill>
          <a:ln w="15875">
            <a:solidFill>
              <a:srgbClr val="7FA4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8A880CB-D59A-63EC-A9FC-9EC2E82CC7A9}"/>
              </a:ext>
            </a:extLst>
          </p:cNvPr>
          <p:cNvSpPr/>
          <p:nvPr/>
        </p:nvSpPr>
        <p:spPr>
          <a:xfrm>
            <a:off x="685800" y="187452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61F1F86-6AA2-9AD5-FDA4-3DBD24351DEC}"/>
              </a:ext>
            </a:extLst>
          </p:cNvPr>
          <p:cNvSpPr/>
          <p:nvPr/>
        </p:nvSpPr>
        <p:spPr>
          <a:xfrm>
            <a:off x="6172200" y="1874520"/>
            <a:ext cx="5330952" cy="1737360"/>
          </a:xfrm>
          <a:prstGeom prst="roundRect">
            <a:avLst>
              <a:gd name="adj" fmla="val 4737"/>
            </a:avLst>
          </a:prstGeom>
          <a:solidFill>
            <a:srgbClr val="EAF0FF"/>
          </a:solidFill>
          <a:ln w="12700">
            <a:solidFill>
              <a:srgbClr val="D5DEEC"/>
            </a:solidFill>
            <a:prstDash val="solid"/>
          </a:ln>
          <a:effectLst>
            <a:outerShdw blurRad="114300" dist="38100" dir="5400000" algn="bl" rotWithShape="0">
              <a:srgbClr val="9AA8BE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1CF978D-F2F0-60DA-50C9-2F98698AC475}"/>
              </a:ext>
            </a:extLst>
          </p:cNvPr>
          <p:cNvSpPr/>
          <p:nvPr/>
        </p:nvSpPr>
        <p:spPr>
          <a:xfrm>
            <a:off x="6428232" y="2075688"/>
            <a:ext cx="4818888" cy="1335024"/>
          </a:xfrm>
          <a:prstGeom prst="rect">
            <a:avLst/>
          </a:prstGeom>
          <a:noFill/>
          <a:ln/>
        </p:spPr>
        <p:txBody>
          <a:bodyPr wrap="square" lIns="73152" tIns="36576" rIns="73152" bIns="36576" rtlCol="0" anchor="t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130" b="1">
                <a:solidFill>
                  <a:srgbClr val="1E1E1E"/>
                </a:solidFill>
              </a:defRPr>
            </a:pPr>
            <a:r>
              <a:t>优点 / 对我们造成的影响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060" b="0">
                <a:solidFill>
                  <a:srgbClr val="1E1E1E"/>
                </a:solidFill>
              </a:defRPr>
            </a:pPr>
            <a:r>
              <a:t>相关工作共同支持一件事：轨迹比单一 reward 更有学习价值，但必须通过候选集、外部 evaluator 和回归集来筛。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060" b="0">
                <a:solidFill>
                  <a:srgbClr val="1E1E1E"/>
                </a:solidFill>
              </a:defRPr>
            </a:pPr>
            <a:r>
              <a:t>因此新的 agent-system evolution 应该是：all-history trajectories -&gt; 3-5 个 AGENTS.md patch -&gt; leakage / genericity / paired-eval gate -&gt; promote。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44A31B2-1A5B-019D-9AD5-15E29D111E1C}"/>
              </a:ext>
            </a:extLst>
          </p:cNvPr>
          <p:cNvSpPr/>
          <p:nvPr/>
        </p:nvSpPr>
        <p:spPr>
          <a:xfrm>
            <a:off x="6172200" y="3794760"/>
            <a:ext cx="5330952" cy="2011680"/>
          </a:xfrm>
          <a:prstGeom prst="roundRect">
            <a:avLst>
              <a:gd name="adj" fmla="val 4091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  <a:effectLst>
            <a:outerShdw blurRad="114300" dist="38100" dir="5400000" algn="bl" rotWithShape="0">
              <a:srgbClr val="9AA8BE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7771865-EF88-95F6-0689-02B7770360F1}"/>
              </a:ext>
            </a:extLst>
          </p:cNvPr>
          <p:cNvSpPr/>
          <p:nvPr/>
        </p:nvSpPr>
        <p:spPr>
          <a:xfrm>
            <a:off x="6428232" y="3995928"/>
            <a:ext cx="4818888" cy="1609344"/>
          </a:xfrm>
          <a:prstGeom prst="rect">
            <a:avLst/>
          </a:prstGeom>
          <a:noFill/>
          <a:ln/>
        </p:spPr>
        <p:txBody>
          <a:bodyPr wrap="square" lIns="73152" tIns="36576" rIns="73152" bIns="36576" rtlCol="0" anchor="t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130" b="1">
                <a:solidFill>
                  <a:srgbClr val="1E1E1E"/>
                </a:solidFill>
              </a:defRPr>
            </a:pPr>
            <a:r>
              <a:t>缺点 / 仍未解决的问题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070" b="0">
                <a:solidFill>
                  <a:srgbClr val="1E1E1E"/>
                </a:solidFill>
              </a:defRPr>
            </a:pPr>
            <a:r>
              <a:t>这些工作不能替我们解决 harness 等价性。Terminal Bench 必须先建立官方 Codex-style baseline，再把 Polar 演化作为 AGENTS.md overlay。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070" b="0">
                <a:solidFill>
                  <a:srgbClr val="1E1E1E"/>
                </a:solidFill>
              </a:defRPr>
            </a:pPr>
            <a:r>
              <a:t>另一个缺口是“泛化但可执行”：不能泄漏具体答案，也不能只写口号；退化信号要成为 evaluator 输出。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85800" y="1664208"/>
          <a:ext cx="4846320" cy="3547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783080"/>
                <a:gridCol w="2057400"/>
              </a:tblGrid>
              <a:tr h="329184"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defRPr sz="980" b="1">
                          <a:solidFill>
                            <a:srgbClr val="1E1E1E"/>
                          </a:solidFill>
                        </a:defRPr>
                      </a:pPr>
                      <a:r>
                        <a:t>相关工作</a:t>
                      </a:r>
                    </a:p>
                  </a:txBody>
                  <a:tcPr marL="36576" marR="36576" marT="27432" marB="27432" anchor="t"/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defRPr sz="980" b="1">
                          <a:solidFill>
                            <a:srgbClr val="1E1E1E"/>
                          </a:solidFill>
                        </a:defRPr>
                      </a:pPr>
                      <a:r>
                        <a:t>核心机制</a:t>
                      </a:r>
                    </a:p>
                  </a:txBody>
                  <a:tcPr marL="36576" marR="36576" marT="27432" marB="27432" anchor="t"/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defRPr sz="980" b="1">
                          <a:solidFill>
                            <a:srgbClr val="1E1E1E"/>
                          </a:solidFill>
                        </a:defRPr>
                      </a:pPr>
                      <a:r>
                        <a:t>对我们的方法约束</a:t>
                      </a:r>
                    </a:p>
                  </a:txBody>
                  <a:tcPr marL="36576" marR="36576" marT="27432" marB="27432" anchor="t"/>
                </a:tc>
              </a:tr>
              <a:tr h="1060704"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defRPr sz="919" b="1">
                          <a:solidFill>
                            <a:srgbClr val="1E1E1E"/>
                          </a:solidFill>
                        </a:defRPr>
                      </a:pPr>
                      <a:r>
                        <a:t>GEPA</a:t>
                      </a:r>
                      <a:br/>
                      <a:r>
                        <a:t>(2025)</a:t>
                      </a:r>
                    </a:p>
                  </a:txBody>
                  <a:tcPr marL="36576" marR="36576" marT="27432" marB="27432" anchor="t"/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defRPr sz="919" b="0">
                          <a:solidFill>
                            <a:srgbClr val="1E1E1E"/>
                          </a:solidFill>
                        </a:defRPr>
                      </a:pPr>
                      <a:r>
                        <a:t>读完整轨迹，用自然语言反思失败；从 Pareto frontier 组合互补 prompt patch。</a:t>
                      </a:r>
                    </a:p>
                  </a:txBody>
                  <a:tcPr marL="36576" marR="36576" marT="27432" marB="27432" anchor="t"/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defRPr sz="919" b="0">
                          <a:solidFill>
                            <a:srgbClr val="1E1E1E"/>
                          </a:solidFill>
                        </a:defRPr>
                      </a:pPr>
                      <a:r>
                        <a:t>reflector 不应单次覆盖 AGENTS.md；应产出候选 patch，并用 paired eval / 回归集晋级。</a:t>
                      </a:r>
                    </a:p>
                  </a:txBody>
                  <a:tcPr marL="36576" marR="36576" marT="27432" marB="27432" anchor="t"/>
                </a:tc>
              </a:tr>
              <a:tr h="1078992"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defRPr sz="919" b="1">
                          <a:solidFill>
                            <a:srgbClr val="1E1E1E"/>
                          </a:solidFill>
                        </a:defRPr>
                      </a:pPr>
                      <a:r>
                        <a:t>PromptBreeder</a:t>
                      </a:r>
                      <a:br/>
                      <a:r>
                        <a:t>EvoPrompt</a:t>
                      </a:r>
                      <a:br/>
                      <a:r>
                        <a:t>MIPROv2</a:t>
                      </a:r>
                    </a:p>
                  </a:txBody>
                  <a:tcPr marL="36576" marR="36576" marT="27432" marB="27432" anchor="t"/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defRPr sz="919" b="0">
                          <a:solidFill>
                            <a:srgbClr val="1E1E1E"/>
                          </a:solidFill>
                        </a:defRPr>
                      </a:pPr>
                      <a:r>
                        <a:t>population mutation/crossover；用训练集/验证指标搜索 instruction 与 few-shot 组合。</a:t>
                      </a:r>
                    </a:p>
                  </a:txBody>
                  <a:tcPr marL="36576" marR="36576" marT="27432" marB="27432" anchor="t"/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defRPr sz="919" b="0">
                          <a:solidFill>
                            <a:srgbClr val="1E1E1E"/>
                          </a:solidFill>
                        </a:defRPr>
                      </a:pPr>
                      <a:r>
                        <a:t>多候选、多轮全历史；golden evaluator 做共享 promotion gate，而不是 reflector 私有判断。</a:t>
                      </a:r>
                    </a:p>
                  </a:txBody>
                  <a:tcPr marL="36576" marR="36576" marT="27432" marB="27432" anchor="t"/>
                </a:tc>
              </a:tr>
              <a:tr h="1078992"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defRPr sz="919" b="1">
                          <a:solidFill>
                            <a:srgbClr val="1E1E1E"/>
                          </a:solidFill>
                        </a:defRPr>
                      </a:pPr>
                      <a:r>
                        <a:t>MemAPO / Survey</a:t>
                      </a:r>
                      <a:br/>
                      <a:r>
                        <a:t>Misevolution</a:t>
                      </a:r>
                      <a:br/>
                      <a:r>
                        <a:t>Capability erosion</a:t>
                      </a:r>
                    </a:p>
                  </a:txBody>
                  <a:tcPr marL="36576" marR="36576" marT="27432" marB="27432" anchor="t"/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defRPr sz="919" b="0">
                          <a:solidFill>
                            <a:srgbClr val="1E1E1E"/>
                          </a:solidFill>
                        </a:defRPr>
                      </a:pPr>
                      <a:r>
                        <a:t>把成功策略和错误模式写入 memory；指出自进化会退化、遗忘、过拟合或偏离目标。</a:t>
                      </a:r>
                    </a:p>
                  </a:txBody>
                  <a:tcPr marL="36576" marR="36576" marT="27432" marB="27432" anchor="t"/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defRPr sz="919" b="0">
                          <a:solidFill>
                            <a:srgbClr val="1E1E1E"/>
                          </a:solidFill>
                        </a:defRPr>
                      </a:pPr>
                      <a:r>
                        <a:t>加入反退化审计：leakage、空喊口号、coverage collapse、缺 source id/provenance。</a:t>
                      </a:r>
                    </a:p>
                  </a:txBody>
                  <a:tcPr marL="36576" marR="36576" marT="27432" marB="27432" anchor="t"/>
                </a:tc>
              </a:tr>
            </a:tbl>
          </a:graphicData>
        </a:graphic>
      </p:graphicFrame>
      <p:sp>
        <p:nvSpPr>
          <p:cNvPr id="15" name="RelatedWorkRefs"/>
          <p:cNvSpPr txBox="1"/>
          <p:nvPr/>
        </p:nvSpPr>
        <p:spPr>
          <a:xfrm>
            <a:off x="685800" y="6144768"/>
            <a:ext cx="10058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40">
                <a:solidFill>
                  <a:srgbClr val="5A5A5A"/>
                </a:solidFill>
              </a:defRPr>
            </a:pPr>
            <a:r>
              <a:t>Refs: GEPA arXiv:2507.19457; PromptBreeder arXiv:2309.16797; MIPROv2 arXiv:2406.11695 / DSPy docs; Self-Evolving Agents survey arXiv:2507.21046; Misevolution arXiv:2509.26354; MemAPO arXiv:2603.21520.</a:t>
            </a:r>
          </a:p>
        </p:txBody>
      </p:sp>
    </p:spTree>
    <p:extLst>
      <p:ext uri="{BB962C8B-B14F-4D97-AF65-F5344CB8AC3E}">
        <p14:creationId xmlns:p14="http://schemas.microsoft.com/office/powerpoint/2010/main" val="2000742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395</Words>
  <Application>Microsoft Macintosh PowerPoint</Application>
  <PresentationFormat>Widescreen</PresentationFormat>
  <Paragraphs>108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Alibaba PuHuiTi Medium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类项目每周汇报模板</dc:title>
  <dc:subject>PptxGenJS Presentation</dc:subject>
  <dc:creator>CompLife Lab</dc:creator>
  <cp:lastModifiedBy>T151608</cp:lastModifiedBy>
  <cp:revision>10</cp:revision>
  <dcterms:created xsi:type="dcterms:W3CDTF">2026-06-15T03:31:59Z</dcterms:created>
  <dcterms:modified xsi:type="dcterms:W3CDTF">2026-06-16T07:16:32Z</dcterms:modified>
</cp:coreProperties>
</file>